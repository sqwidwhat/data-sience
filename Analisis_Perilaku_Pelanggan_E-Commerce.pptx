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c5acaf2c-3759-b625-2a8a-78df9cf15b6b}">
          <p14:sldIdLst>
            <p14:sldId id="256"/>
            <p14:sldId id="257"/>
          </p14:sldIdLst>
        </p14:section>
        <p14:section name="Analisis" id="{8cf508a2-2550-4f6c-e4c0-55f2d4d4f40c}">
          <p14:sldIdLst>
            <p14:sldId id="258"/>
            <p14:sldId id="259"/>
            <p14:sldId id="260"/>
            <p14:sldId id="261"/>
            <p14:sldId id="262"/>
          </p14:sldIdLst>
        </p14:section>
        <p14:section name="Penutup" id="{ca0830e1-e5fc-775a-fab1-e6aca348acd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berisi 350 pelanggan e-commerce dengan 11 variabel (usia, kota, tipe membership, total spend, jumlah item, rating, diskon, hari sejak pembelian terakhir, tingkat kepuasan). Tujuan: memahami perilaku pelanggan hingga menghasilkan rekomendasi bisnis.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Membership sangat menentukan nilai pelanggan. Spend Bronze 411–530, Silver 660–831, Gold 1.120–1.520 sehingga tidak ada tumpang tindih.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Korelasi adalah hubungan, bukan sebab-akibat. Usia berkorelasi negatif dengan spend: rata-rata usia Gold 29,9 th vs Bronze 39,4 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asli hanya mensimulasikan P0 = 400. Garis kedua (P0 = 1500) ditambahkan di slide ini sebagai pembanding visual; persamaan dan parameter identik.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Hasil classification report: precision, recall, dan f1-score 1,00 untuk ketiga kelas. Nilai sempurna pada 70 data uji menandakan pola yang sangat mudah dipisahkan (atau data bersifat sintetis), sehingga generalisasi harus diuji lagi.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Dari data: 124 pelanggan (35%) lebih dari 30 hari sejak pembelian terakhir; 60 Bronze, 58 Silver, 6 Gold.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Penutup: tegaskan bahwa temuan bersifat korelasional dan model prediktif perlu divalidasi dengan data baru.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74980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02336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Analisis Perilaku Pelanggan E-Commerce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Analisis Perilaku Pelanggan E-Commerce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40233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Dari Deskriptif hingga Preskriptif: Wawasan Bisnis untuk Meningkatkan Nilai dan Kepuasan Pelanggan</a:t>
            </a:r>
            <a:endParaRPr lang="en-US" sz="2000" dirty="0"/>
          </a:p>
        </p:txBody>
      </p:sp>
      <p:sp>
        <p:nvSpPr>
          <p:cNvPr id="4" name="Motif Teal"/>
          <p:cNvSpPr/>
          <p:nvPr/>
        </p:nvSpPr>
        <p:spPr>
          <a:xfrm>
            <a:off x="9052560" y="109728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Motif Amber"/>
          <p:cNvSpPr/>
          <p:nvPr/>
        </p:nvSpPr>
        <p:spPr>
          <a:xfrm>
            <a:off x="8138160" y="3383280"/>
            <a:ext cx="1920240" cy="19202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Motif Silver"/>
          <p:cNvSpPr/>
          <p:nvPr/>
        </p:nvSpPr>
        <p:spPr>
          <a:xfrm>
            <a:off x="10332720" y="4206240"/>
            <a:ext cx="1188720" cy="11887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ubjudul"/>
          <p:cNvSpPr txBox="1"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Tugas Data Science  |  350 Pelanggan  |  6 Kota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Pendahuluan &amp; Tujuan</a:t>
            </a:r>
            <a:endParaRPr lang="en-US" sz="3400" dirty="0"/>
          </a:p>
        </p:txBody>
      </p:sp>
      <p:sp>
        <p:nvSpPr>
          <p:cNvPr id="3" name="Stat 1 card"/>
          <p:cNvSpPr/>
          <p:nvPr/>
        </p:nvSpPr>
        <p:spPr>
          <a:xfrm>
            <a:off x="54864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at 1 value"/>
          <p:cNvSpPr txBox="1"/>
          <p:nvPr/>
        </p:nvSpPr>
        <p:spPr>
          <a:xfrm>
            <a:off x="731520" y="1435608"/>
            <a:ext cx="21945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</a:t>
            </a:r>
            <a:endParaRPr lang="en-US" sz="30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2066544"/>
            <a:ext cx="219456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pelanggan dalam dataset</a:t>
            </a:r>
            <a:endParaRPr lang="en-US" sz="1300" dirty="0"/>
          </a:p>
        </p:txBody>
      </p:sp>
      <p:sp>
        <p:nvSpPr>
          <p:cNvPr id="6" name="Stat 2 card"/>
          <p:cNvSpPr/>
          <p:nvPr/>
        </p:nvSpPr>
        <p:spPr>
          <a:xfrm>
            <a:off x="338328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tat 2 value"/>
          <p:cNvSpPr txBox="1"/>
          <p:nvPr/>
        </p:nvSpPr>
        <p:spPr>
          <a:xfrm>
            <a:off x="3566160" y="1435608"/>
            <a:ext cx="21945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8" name="Stat 2 label"/>
          <p:cNvSpPr txBox="1"/>
          <p:nvPr/>
        </p:nvSpPr>
        <p:spPr>
          <a:xfrm>
            <a:off x="3566160" y="2066544"/>
            <a:ext cx="219456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variabel perilaku &amp; demografi</a:t>
            </a:r>
            <a:endParaRPr lang="en-US" sz="1300" dirty="0"/>
          </a:p>
        </p:txBody>
      </p:sp>
      <p:sp>
        <p:nvSpPr>
          <p:cNvPr id="9" name="Stat 3 card"/>
          <p:cNvSpPr/>
          <p:nvPr/>
        </p:nvSpPr>
        <p:spPr>
          <a:xfrm>
            <a:off x="621792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tat 3 value"/>
          <p:cNvSpPr txBox="1"/>
          <p:nvPr/>
        </p:nvSpPr>
        <p:spPr>
          <a:xfrm>
            <a:off x="6400800" y="1435608"/>
            <a:ext cx="21945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400800" y="2066544"/>
            <a:ext cx="219456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tipe membership: Bronze, Silver, Gold</a:t>
            </a:r>
            <a:endParaRPr lang="en-US" sz="1300" dirty="0"/>
          </a:p>
        </p:txBody>
      </p:sp>
      <p:sp>
        <p:nvSpPr>
          <p:cNvPr id="12" name="Stat 4 card"/>
          <p:cNvSpPr/>
          <p:nvPr/>
        </p:nvSpPr>
        <p:spPr>
          <a:xfrm>
            <a:off x="9052560" y="13258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at 4 value"/>
          <p:cNvSpPr txBox="1"/>
          <p:nvPr/>
        </p:nvSpPr>
        <p:spPr>
          <a:xfrm>
            <a:off x="9235440" y="1435608"/>
            <a:ext cx="2194560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235440" y="2066544"/>
            <a:ext cx="219456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kota di Amerika Serikat</a:t>
            </a:r>
            <a:endParaRPr lang="en-US" sz="1300" dirty="0"/>
          </a:p>
        </p:txBody>
      </p:sp>
      <p:sp>
        <p:nvSpPr>
          <p:cNvPr id="15" name="Subjudul tahap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Tahap Analisis</a:t>
            </a:r>
            <a:endParaRPr lang="en-US" sz="2000" dirty="0"/>
          </a:p>
        </p:txBody>
      </p:sp>
      <p:sp>
        <p:nvSpPr>
          <p:cNvPr id="16" name="Tahap 1 card"/>
          <p:cNvSpPr/>
          <p:nvPr/>
        </p:nvSpPr>
        <p:spPr>
          <a:xfrm>
            <a:off x="548640" y="3429000"/>
            <a:ext cx="2011680" cy="22860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ahap 1 badge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ahap 1 nomor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9" name="Tahap 1 judul"/>
          <p:cNvSpPr txBox="1"/>
          <p:nvPr/>
        </p:nvSpPr>
        <p:spPr>
          <a:xfrm>
            <a:off x="73152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Deskriptif</a:t>
            </a:r>
            <a:endParaRPr lang="en-US" sz="1800" dirty="0"/>
          </a:p>
        </p:txBody>
      </p:sp>
      <p:sp>
        <p:nvSpPr>
          <p:cNvPr id="20" name="Tahap 1 deskripsi"/>
          <p:cNvSpPr txBox="1"/>
          <p:nvPr/>
        </p:nvSpPr>
        <p:spPr>
          <a:xfrm>
            <a:off x="731520" y="4800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 yang terjadi? Profil umur, belanja, dan membership</a:t>
            </a:r>
            <a:endParaRPr lang="en-US" sz="1400" dirty="0"/>
          </a:p>
        </p:txBody>
      </p:sp>
      <p:sp>
        <p:nvSpPr>
          <p:cNvPr id="21" name="Tahap 2 card"/>
          <p:cNvSpPr/>
          <p:nvPr/>
        </p:nvSpPr>
        <p:spPr>
          <a:xfrm>
            <a:off x="2811780" y="3429000"/>
            <a:ext cx="2011680" cy="22860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ahap 2 badge"/>
          <p:cNvSpPr/>
          <p:nvPr/>
        </p:nvSpPr>
        <p:spPr>
          <a:xfrm>
            <a:off x="299466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3" name="Tahap 2 nomor"/>
          <p:cNvSpPr txBox="1"/>
          <p:nvPr/>
        </p:nvSpPr>
        <p:spPr>
          <a:xfrm>
            <a:off x="29946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4" name="Tahap 2 judul"/>
          <p:cNvSpPr txBox="1"/>
          <p:nvPr/>
        </p:nvSpPr>
        <p:spPr>
          <a:xfrm>
            <a:off x="299466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800" dirty="0"/>
          </a:p>
        </p:txBody>
      </p:sp>
      <p:sp>
        <p:nvSpPr>
          <p:cNvPr id="25" name="Tahap 2 deskripsi"/>
          <p:cNvSpPr txBox="1"/>
          <p:nvPr/>
        </p:nvSpPr>
        <p:spPr>
          <a:xfrm>
            <a:off x="2994660" y="4800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Pola dan hubungan antar variabel</a:t>
            </a:r>
            <a:endParaRPr lang="en-US" sz="1400" dirty="0"/>
          </a:p>
        </p:txBody>
      </p:sp>
      <p:sp>
        <p:nvSpPr>
          <p:cNvPr id="26" name="Tahap 3 card"/>
          <p:cNvSpPr/>
          <p:nvPr/>
        </p:nvSpPr>
        <p:spPr>
          <a:xfrm>
            <a:off x="5074920" y="3429000"/>
            <a:ext cx="2011680" cy="22860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Tahap 3 badge"/>
          <p:cNvSpPr/>
          <p:nvPr/>
        </p:nvSpPr>
        <p:spPr>
          <a:xfrm>
            <a:off x="525780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Tahap 3 nomor"/>
          <p:cNvSpPr txBox="1"/>
          <p:nvPr/>
        </p:nvSpPr>
        <p:spPr>
          <a:xfrm>
            <a:off x="52578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9" name="Tahap 3 judul"/>
          <p:cNvSpPr txBox="1"/>
          <p:nvPr/>
        </p:nvSpPr>
        <p:spPr>
          <a:xfrm>
            <a:off x="52578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Mekanistik</a:t>
            </a:r>
            <a:endParaRPr lang="en-US" sz="1800" dirty="0"/>
          </a:p>
        </p:txBody>
      </p:sp>
      <p:sp>
        <p:nvSpPr>
          <p:cNvPr id="30" name="Tahap 3 deskripsi"/>
          <p:cNvSpPr txBox="1"/>
          <p:nvPr/>
        </p:nvSpPr>
        <p:spPr>
          <a:xfrm>
            <a:off x="5257800" y="4800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Simulasi dinamika pengeluaran pelanggan</a:t>
            </a:r>
            <a:endParaRPr lang="en-US" sz="1400" dirty="0"/>
          </a:p>
        </p:txBody>
      </p:sp>
      <p:sp>
        <p:nvSpPr>
          <p:cNvPr id="31" name="Tahap 4 card"/>
          <p:cNvSpPr/>
          <p:nvPr/>
        </p:nvSpPr>
        <p:spPr>
          <a:xfrm>
            <a:off x="7338060" y="3429000"/>
            <a:ext cx="2011680" cy="22860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ahap 4 badge"/>
          <p:cNvSpPr/>
          <p:nvPr/>
        </p:nvSpPr>
        <p:spPr>
          <a:xfrm>
            <a:off x="752094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3" name="Tahap 4 nomor"/>
          <p:cNvSpPr txBox="1"/>
          <p:nvPr/>
        </p:nvSpPr>
        <p:spPr>
          <a:xfrm>
            <a:off x="75209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4" name="Tahap 4 judul"/>
          <p:cNvSpPr txBox="1"/>
          <p:nvPr/>
        </p:nvSpPr>
        <p:spPr>
          <a:xfrm>
            <a:off x="752094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Prediktif</a:t>
            </a:r>
            <a:endParaRPr lang="en-US" sz="1800" dirty="0"/>
          </a:p>
        </p:txBody>
      </p:sp>
      <p:sp>
        <p:nvSpPr>
          <p:cNvPr id="35" name="Tahap 4 deskripsi"/>
          <p:cNvSpPr txBox="1"/>
          <p:nvPr/>
        </p:nvSpPr>
        <p:spPr>
          <a:xfrm>
            <a:off x="7520940" y="4800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Memprediksi tingkat kepuasan pelanggan</a:t>
            </a:r>
            <a:endParaRPr lang="en-US" sz="1400" dirty="0"/>
          </a:p>
        </p:txBody>
      </p:sp>
      <p:sp>
        <p:nvSpPr>
          <p:cNvPr id="36" name="Tahap 5 card"/>
          <p:cNvSpPr/>
          <p:nvPr/>
        </p:nvSpPr>
        <p:spPr>
          <a:xfrm>
            <a:off x="9601200" y="3429000"/>
            <a:ext cx="2011680" cy="228600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7" name="Tahap 5 badge"/>
          <p:cNvSpPr/>
          <p:nvPr/>
        </p:nvSpPr>
        <p:spPr>
          <a:xfrm>
            <a:off x="9784080" y="3657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8" name="Tahap 5 nomor"/>
          <p:cNvSpPr txBox="1"/>
          <p:nvPr/>
        </p:nvSpPr>
        <p:spPr>
          <a:xfrm>
            <a:off x="97840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9" name="Tahap 5 judul"/>
          <p:cNvSpPr txBox="1"/>
          <p:nvPr/>
        </p:nvSpPr>
        <p:spPr>
          <a:xfrm>
            <a:off x="978408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Preskriptif</a:t>
            </a:r>
            <a:endParaRPr lang="en-US" sz="1800" dirty="0"/>
          </a:p>
        </p:txBody>
      </p:sp>
      <p:sp>
        <p:nvSpPr>
          <p:cNvPr id="40" name="Tahap 5 deskripsi"/>
          <p:cNvSpPr txBox="1"/>
          <p:nvPr/>
        </p:nvSpPr>
        <p:spPr>
          <a:xfrm>
            <a:off x="9784080" y="48006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Langkah strategis yang perlu diambil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Analisis Deskriptif</a:t>
            </a:r>
            <a:endParaRPr lang="en-US" sz="3400" dirty="0"/>
          </a:p>
        </p:txBody>
      </p:sp>
      <p:sp>
        <p:nvSpPr>
          <p:cNvPr id="3" name="Stat 1 card"/>
          <p:cNvSpPr/>
          <p:nvPr/>
        </p:nvSpPr>
        <p:spPr>
          <a:xfrm>
            <a:off x="54864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at 1 value"/>
          <p:cNvSpPr txBox="1"/>
          <p:nvPr/>
        </p:nvSpPr>
        <p:spPr>
          <a:xfrm>
            <a:off x="731520" y="1389888"/>
            <a:ext cx="21945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33,6 th</a:t>
            </a:r>
            <a:endParaRPr lang="en-US" sz="30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1993392"/>
            <a:ext cx="21945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rata-rata usia (26–43 th)</a:t>
            </a:r>
            <a:endParaRPr lang="en-US" sz="1300" dirty="0"/>
          </a:p>
        </p:txBody>
      </p:sp>
      <p:sp>
        <p:nvSpPr>
          <p:cNvPr id="6" name="Stat 2 card"/>
          <p:cNvSpPr/>
          <p:nvPr/>
        </p:nvSpPr>
        <p:spPr>
          <a:xfrm>
            <a:off x="338328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tat 2 value"/>
          <p:cNvSpPr txBox="1"/>
          <p:nvPr/>
        </p:nvSpPr>
        <p:spPr>
          <a:xfrm>
            <a:off x="3566160" y="1389888"/>
            <a:ext cx="21945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$845</a:t>
            </a:r>
            <a:endParaRPr lang="en-US" sz="3000" dirty="0"/>
          </a:p>
        </p:txBody>
      </p:sp>
      <p:sp>
        <p:nvSpPr>
          <p:cNvPr id="8" name="Stat 2 label"/>
          <p:cNvSpPr txBox="1"/>
          <p:nvPr/>
        </p:nvSpPr>
        <p:spPr>
          <a:xfrm>
            <a:off x="3566160" y="1993392"/>
            <a:ext cx="21945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rata-rata total spend</a:t>
            </a:r>
            <a:endParaRPr lang="en-US" sz="1300" dirty="0"/>
          </a:p>
        </p:txBody>
      </p:sp>
      <p:sp>
        <p:nvSpPr>
          <p:cNvPr id="9" name="Stat 3 card"/>
          <p:cNvSpPr/>
          <p:nvPr/>
        </p:nvSpPr>
        <p:spPr>
          <a:xfrm>
            <a:off x="621792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tat 3 value"/>
          <p:cNvSpPr txBox="1"/>
          <p:nvPr/>
        </p:nvSpPr>
        <p:spPr>
          <a:xfrm>
            <a:off x="6400800" y="1389888"/>
            <a:ext cx="21945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4,02</a:t>
            </a:r>
            <a:endParaRPr lang="en-US" sz="3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400800" y="1993392"/>
            <a:ext cx="21945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rata-rata rating (skala 5)</a:t>
            </a:r>
            <a:endParaRPr lang="en-US" sz="1300" dirty="0"/>
          </a:p>
        </p:txBody>
      </p:sp>
      <p:sp>
        <p:nvSpPr>
          <p:cNvPr id="12" name="Stat 4 card"/>
          <p:cNvSpPr/>
          <p:nvPr/>
        </p:nvSpPr>
        <p:spPr>
          <a:xfrm>
            <a:off x="9052560" y="1280160"/>
            <a:ext cx="256032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tat 4 value"/>
          <p:cNvSpPr txBox="1"/>
          <p:nvPr/>
        </p:nvSpPr>
        <p:spPr>
          <a:xfrm>
            <a:off x="9235440" y="1389888"/>
            <a:ext cx="219456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26,6 hari</a:t>
            </a:r>
            <a:endParaRPr lang="en-US" sz="30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235440" y="1993392"/>
            <a:ext cx="219456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rata-rata sejak beli terakhir</a:t>
            </a:r>
            <a:endParaRPr lang="en-US" sz="1300" dirty="0"/>
          </a:p>
        </p:txBody>
      </p:sp>
      <p:sp>
        <p:nvSpPr>
          <p:cNvPr id="15" name="Temuan deskriptif"/>
          <p:cNvSpPr txBox="1"/>
          <p:nvPr/>
        </p:nvSpPr>
        <p:spPr>
          <a:xfrm>
            <a:off x="548640" y="2788920"/>
            <a:ext cx="5486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Gold: rata-rata spend $1.311, 17,6 item, rating 4,68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Silver: $748 | Bronze: $473 — Gold ±2,8× lebih besar dari Bronze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Rentang spend antar tipe tidak saling tumpang tindih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Gold paling aktif: 18 hari sejak beli terakhir vs ±31 hari (Bronze)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Jumlah pelanggan seimbang (116–117 per tipe)</a:t>
            </a:r>
            <a:endParaRPr lang="en-US" sz="1600" dirty="0"/>
          </a:p>
        </p:txBody>
      </p:sp>
      <p:sp>
        <p:nvSpPr>
          <p:cNvPr id="16" name="Boxplot Total Spend per Membership card"/>
          <p:cNvSpPr/>
          <p:nvPr/>
        </p:nvSpPr>
        <p:spPr>
          <a:xfrm>
            <a:off x="6263640" y="2697480"/>
            <a:ext cx="5349240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7" name="Boxplot Total Spend per Membership" descr="Boxplot Total Spend per Membe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2775204"/>
            <a:ext cx="4937760" cy="34564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Exploratory Data Analysis (EDA)</a:t>
            </a:r>
            <a:endParaRPr lang="en-US" sz="3400" dirty="0"/>
          </a:p>
        </p:txBody>
      </p:sp>
      <p:sp>
        <p:nvSpPr>
          <p:cNvPr id="3" name="Histogram Total Spend card"/>
          <p:cNvSpPr/>
          <p:nvPr/>
        </p:nvSpPr>
        <p:spPr>
          <a:xfrm>
            <a:off x="548640" y="1280160"/>
            <a:ext cx="53949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Histogram Total Spend" descr="Histogram Total Sp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39596"/>
            <a:ext cx="4663440" cy="3264408"/>
          </a:xfrm>
          <a:prstGeom prst="rect">
            <a:avLst/>
          </a:prstGeom>
        </p:spPr>
      </p:pic>
      <p:sp>
        <p:nvSpPr>
          <p:cNvPr id="5" name="Scatter Items vs Spend card"/>
          <p:cNvSpPr/>
          <p:nvPr/>
        </p:nvSpPr>
        <p:spPr>
          <a:xfrm>
            <a:off x="6217920" y="1280160"/>
            <a:ext cx="5394960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6" name="Scatter Items vs Spend" descr="Scatter Items vs Sp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339596"/>
            <a:ext cx="4663440" cy="3264408"/>
          </a:xfrm>
          <a:prstGeom prst="rect">
            <a:avLst/>
          </a:prstGeom>
        </p:spPr>
      </p:pic>
      <p:sp>
        <p:nvSpPr>
          <p:cNvPr id="7" name="Temuan histogram"/>
          <p:cNvSpPr txBox="1"/>
          <p:nvPr/>
        </p:nvSpPr>
        <p:spPr>
          <a:xfrm>
            <a:off x="548640" y="4846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Spend tersebar $411–$1.520 dan condong ke kanan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Distribusi membentuk gugus yang selaras dengan tipe membership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Segmen Bronze mendominasi sisi kiri (spend rendah)</a:t>
            </a:r>
            <a:endParaRPr lang="en-US" sz="1400" dirty="0"/>
          </a:p>
        </p:txBody>
      </p:sp>
      <p:sp>
        <p:nvSpPr>
          <p:cNvPr id="8" name="Temuan scatter"/>
          <p:cNvSpPr txBox="1"/>
          <p:nvPr/>
        </p:nvSpPr>
        <p:spPr>
          <a:xfrm>
            <a:off x="6217920" y="48463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Item dibeli vs spend berkorelasi sangat kuat (r = 0,97)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Rating juga selaras dengan spend (r = 0,94)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Pelanggan lebih muda cenderung belanja lebih besar (r = −0,68)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 Mekanistik</a:t>
            </a:r>
            <a:endParaRPr lang="en-US" sz="3400" dirty="0"/>
          </a:p>
        </p:txBody>
      </p:sp>
      <p:sp>
        <p:nvSpPr>
          <p:cNvPr id="3" name="Persamaan card"/>
          <p:cNvSpPr/>
          <p:nvPr/>
        </p:nvSpPr>
        <p:spPr>
          <a:xfrm>
            <a:off x="548640" y="1325880"/>
            <a:ext cx="53949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Persamaan"/>
          <p:cNvSpPr txBox="1"/>
          <p:nvPr/>
        </p:nvSpPr>
        <p:spPr>
          <a:xfrm>
            <a:off x="731520" y="14173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dP/dt = k × (P̄ − P)</a:t>
            </a:r>
            <a:endParaRPr lang="en-US" sz="2800" dirty="0"/>
          </a:p>
        </p:txBody>
      </p:sp>
      <p:sp>
        <p:nvSpPr>
          <p:cNvPr id="5" name="Keterangan persamaan"/>
          <p:cNvSpPr txBox="1"/>
          <p:nvPr/>
        </p:nvSpPr>
        <p:spPr>
          <a:xfrm>
            <a:off x="73152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 = pengeluaran  |  P̄ = rata-rata ($845)  |  k = 0,8</a:t>
            </a:r>
            <a:endParaRPr lang="en-US" sz="1400" dirty="0"/>
          </a:p>
        </p:txBody>
      </p:sp>
      <p:sp>
        <p:nvSpPr>
          <p:cNvPr id="6" name="Temuan mekanistik"/>
          <p:cNvSpPr txBox="1"/>
          <p:nvPr/>
        </p:nvSpPr>
        <p:spPr>
          <a:xfrm>
            <a:off x="548640" y="283464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Logika sebab-akibat: semakin jauh pengeluaran dari rata-rata, semakin cepat ia bergerak mendekatinya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Titik awal $400 (setara pelanggan Bronze) naik menuju rata-rata sekitar $845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Pengeluaran di atas rata-rata (Gold) turun ke arah rata-rata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Mendekati stabil pada waktu simulasi ±5 satuan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bersifat ilustratif; laju k = 0,8 adalah asumsi, perlu divalidasi dengan data historis</a:t>
            </a:r>
            <a:endParaRPr lang="en-US" sz="1500" dirty="0"/>
          </a:p>
        </p:txBody>
      </p:sp>
      <p:sp>
        <p:nvSpPr>
          <p:cNvPr id="7" name="Simulasi ODE card"/>
          <p:cNvSpPr/>
          <p:nvPr/>
        </p:nvSpPr>
        <p:spPr>
          <a:xfrm>
            <a:off x="6263640" y="1325880"/>
            <a:ext cx="5349240" cy="493776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8" name="Simulasi ODE pengeluaran" descr="Simulasi ODE pengeluar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1508760"/>
            <a:ext cx="4937760" cy="3246120"/>
          </a:xfrm>
          <a:prstGeom prst="rect">
            <a:avLst/>
          </a:prstGeom>
        </p:spPr>
      </p:pic>
      <p:sp>
        <p:nvSpPr>
          <p:cNvPr id="9" name="Catatan grafik"/>
          <p:cNvSpPr txBox="1"/>
          <p:nvPr/>
        </p:nvSpPr>
        <p:spPr>
          <a:xfrm>
            <a:off x="6446520" y="502920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Garis amber (titik awal $1.500) ditambahkan sebagai pembanding untuk menunjukkan arah konvergensi dari atas.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Analisis Prediktif</a:t>
            </a:r>
            <a:endParaRPr lang="en-US" sz="3400" dirty="0"/>
          </a:p>
        </p:txBody>
      </p:sp>
      <p:sp>
        <p:nvSpPr>
          <p:cNvPr id="3" name="Stat model card"/>
          <p:cNvSpPr/>
          <p:nvPr/>
        </p:nvSpPr>
        <p:spPr>
          <a:xfrm>
            <a:off x="548640" y="12801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tat model value"/>
          <p:cNvSpPr txBox="1"/>
          <p:nvPr/>
        </p:nvSpPr>
        <p:spPr>
          <a:xfrm>
            <a:off x="731520" y="1389888"/>
            <a:ext cx="224028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5" name="Stat model label"/>
          <p:cNvSpPr txBox="1"/>
          <p:nvPr/>
        </p:nvSpPr>
        <p:spPr>
          <a:xfrm>
            <a:off x="731520" y="1993392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model klasifikasi kepuasan</a:t>
            </a:r>
            <a:endParaRPr lang="en-US" sz="1300" dirty="0"/>
          </a:p>
        </p:txBody>
      </p:sp>
      <p:sp>
        <p:nvSpPr>
          <p:cNvPr id="6" name="Stat akurasi card"/>
          <p:cNvSpPr/>
          <p:nvPr/>
        </p:nvSpPr>
        <p:spPr>
          <a:xfrm>
            <a:off x="3337560" y="1280160"/>
            <a:ext cx="260604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tat akurasi value"/>
          <p:cNvSpPr txBox="1"/>
          <p:nvPr/>
        </p:nvSpPr>
        <p:spPr>
          <a:xfrm>
            <a:off x="3520440" y="1389888"/>
            <a:ext cx="224028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8" name="Stat akurasi label"/>
          <p:cNvSpPr txBox="1"/>
          <p:nvPr/>
        </p:nvSpPr>
        <p:spPr>
          <a:xfrm>
            <a:off x="3520440" y="1993392"/>
            <a:ext cx="224028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akurasi pada 70 data uji</a:t>
            </a:r>
            <a:endParaRPr lang="en-US" sz="1300" dirty="0"/>
          </a:p>
        </p:txBody>
      </p:sp>
      <p:sp>
        <p:nvSpPr>
          <p:cNvPr id="9" name="Temuan prediktif"/>
          <p:cNvSpPr txBox="1"/>
          <p:nvPr/>
        </p:nvSpPr>
        <p:spPr>
          <a:xfrm>
            <a:off x="548640" y="274320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Target: tingkat kepuasan (Satisfied 125, Neutral 107, Unsatisfied 116)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Fitur: usia, total spend, item dibeli, rating, hari sejak beli terakhir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Pembagian data 80:20; 348 data dipakai (2 baris tanpa label dikeluarkan)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Fitur paling berpengaruh: hari sejak pembelian terakhir (0,33), lalu total spend (0,26) dan item dibeli (0,24)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Pelanggan Unsatisfied rata-rata 43 hari tidak belanja vs ±18 hari (Satisfied)</a:t>
            </a:r>
            <a:endParaRPr lang="en-US" sz="1500" dirty="0"/>
          </a:p>
        </p:txBody>
      </p:sp>
      <p:sp>
        <p:nvSpPr>
          <p:cNvPr id="10" name="Feature importance card"/>
          <p:cNvSpPr/>
          <p:nvPr/>
        </p:nvSpPr>
        <p:spPr>
          <a:xfrm>
            <a:off x="6263640" y="1280160"/>
            <a:ext cx="5349240" cy="3611880"/>
          </a:xfrm>
          <a:prstGeom prst="roundRect">
            <a:avLst>
              <a:gd name="adj" fmla="val 303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Feature importance" descr="Feature importa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9380" y="1467612"/>
            <a:ext cx="4937760" cy="3236976"/>
          </a:xfrm>
          <a:prstGeom prst="rect">
            <a:avLst/>
          </a:prstGeom>
        </p:spPr>
      </p:pic>
      <p:sp>
        <p:nvSpPr>
          <p:cNvPr id="12" name="Catatan akurasi card"/>
          <p:cNvSpPr/>
          <p:nvPr/>
        </p:nvSpPr>
        <p:spPr>
          <a:xfrm>
            <a:off x="6263640" y="5074920"/>
            <a:ext cx="534924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Catatan akurasi"/>
          <p:cNvSpPr txBox="1"/>
          <p:nvPr/>
        </p:nvSpPr>
        <p:spPr>
          <a:xfrm>
            <a:off x="6446520" y="5166360"/>
            <a:ext cx="4983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Catatan: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akurasi 100% pada data kecil perlu diwaspadai. Kepuasan sangat terkait tipe membership (Gold 100% Satisfied), sehingga perlu validasi dengan data baru.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Analisis Preskriptif: Rekomendasi Bisnis</a:t>
            </a:r>
            <a:endParaRPr lang="en-US" sz="3400" dirty="0"/>
          </a:p>
        </p:txBody>
      </p:sp>
      <p:sp>
        <p:nvSpPr>
          <p:cNvPr id="3" name="Rata-rata spend per membership card"/>
          <p:cNvSpPr/>
          <p:nvPr/>
        </p:nvSpPr>
        <p:spPr>
          <a:xfrm>
            <a:off x="548640" y="1325880"/>
            <a:ext cx="5120640" cy="356616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Rata-rata spend per membership" descr="Rata-rata spend per membershi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44752"/>
            <a:ext cx="4754880" cy="3328416"/>
          </a:xfrm>
          <a:prstGeom prst="rect">
            <a:avLst/>
          </a:prstGeom>
        </p:spPr>
      </p:pic>
      <p:sp>
        <p:nvSpPr>
          <p:cNvPr id="5" name="Sorotan Gold"/>
          <p:cNvSpPr txBox="1"/>
          <p:nvPr/>
        </p:nvSpPr>
        <p:spPr>
          <a:xfrm>
            <a:off x="640080" y="5120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Gold memberi nilai tertinggi: rata-rata $1.311 per pelanggan, ±2,8× Bronze.</a:t>
            </a:r>
            <a:endParaRPr lang="en-US" sz="1400" dirty="0"/>
          </a:p>
        </p:txBody>
      </p:sp>
      <p:sp>
        <p:nvSpPr>
          <p:cNvPr id="6" name="Rekomendasi 1 card"/>
          <p:cNvSpPr/>
          <p:nvPr/>
        </p:nvSpPr>
        <p:spPr>
          <a:xfrm>
            <a:off x="5943600" y="1325880"/>
            <a:ext cx="566928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Rekomendasi 1 badge"/>
          <p:cNvSpPr/>
          <p:nvPr/>
        </p:nvSpPr>
        <p:spPr>
          <a:xfrm>
            <a:off x="6126480" y="161848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Rekomendasi 1 nomor"/>
          <p:cNvSpPr txBox="1"/>
          <p:nvPr/>
        </p:nvSpPr>
        <p:spPr>
          <a:xfrm>
            <a:off x="612648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Rekomendasi 1 teks"/>
          <p:cNvSpPr txBox="1"/>
          <p:nvPr/>
        </p:nvSpPr>
        <p:spPr>
          <a:xfrm>
            <a:off x="6858000" y="1399032"/>
            <a:ext cx="4617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Dorong upgrade ke Gold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Bronze &amp; Silver: tawarkan manfaat dan target belanja yang jelas menuju tier berikutnya</a:t>
            </a:r>
            <a:endParaRPr lang="en-US" sz="1600" dirty="0"/>
          </a:p>
        </p:txBody>
      </p:sp>
      <p:sp>
        <p:nvSpPr>
          <p:cNvPr id="10" name="Rekomendasi 2 card"/>
          <p:cNvSpPr/>
          <p:nvPr/>
        </p:nvSpPr>
        <p:spPr>
          <a:xfrm>
            <a:off x="5943600" y="2606040"/>
            <a:ext cx="566928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Rekomendasi 2 badge"/>
          <p:cNvSpPr/>
          <p:nvPr/>
        </p:nvSpPr>
        <p:spPr>
          <a:xfrm>
            <a:off x="6126480" y="28986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Rekomendasi 2 nomor"/>
          <p:cNvSpPr txBox="1"/>
          <p:nvPr/>
        </p:nvSpPr>
        <p:spPr>
          <a:xfrm>
            <a:off x="612648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Rekomendasi 2 teks"/>
          <p:cNvSpPr txBox="1"/>
          <p:nvPr/>
        </p:nvSpPr>
        <p:spPr>
          <a:xfrm>
            <a:off x="6858000" y="2679192"/>
            <a:ext cx="4617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Aktifkan kembali pelanggan pasif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Kirim pengingat/promo bila &gt;30 hari tanpa pembelian; 118 dari 124 pelanggan ini bukan Gold</a:t>
            </a:r>
            <a:endParaRPr lang="en-US" sz="1600" dirty="0"/>
          </a:p>
        </p:txBody>
      </p:sp>
      <p:sp>
        <p:nvSpPr>
          <p:cNvPr id="14" name="Rekomendasi 3 card"/>
          <p:cNvSpPr/>
          <p:nvPr/>
        </p:nvSpPr>
        <p:spPr>
          <a:xfrm>
            <a:off x="5943600" y="3886200"/>
            <a:ext cx="566928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Rekomendasi 3 badge"/>
          <p:cNvSpPr/>
          <p:nvPr/>
        </p:nvSpPr>
        <p:spPr>
          <a:xfrm>
            <a:off x="6126480" y="417880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Rekomendasi 3 nomor"/>
          <p:cNvSpPr txBox="1"/>
          <p:nvPr/>
        </p:nvSpPr>
        <p:spPr>
          <a:xfrm>
            <a:off x="612648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Rekomendasi 3 teks"/>
          <p:cNvSpPr txBox="1"/>
          <p:nvPr/>
        </p:nvSpPr>
        <p:spPr>
          <a:xfrm>
            <a:off x="6858000" y="3959352"/>
            <a:ext cx="4617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Pertahankan pelanggan Gold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Beri layanan prioritas dan program loyalitas karena kontribusi dan kepuasannya tertinggi</a:t>
            </a:r>
            <a:endParaRPr lang="en-US" sz="1600" dirty="0"/>
          </a:p>
        </p:txBody>
      </p:sp>
      <p:sp>
        <p:nvSpPr>
          <p:cNvPr id="18" name="Rekomendasi 4 card"/>
          <p:cNvSpPr/>
          <p:nvPr/>
        </p:nvSpPr>
        <p:spPr>
          <a:xfrm>
            <a:off x="5943600" y="5166360"/>
            <a:ext cx="566928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Rekomendasi 4 badge"/>
          <p:cNvSpPr/>
          <p:nvPr/>
        </p:nvSpPr>
        <p:spPr>
          <a:xfrm>
            <a:off x="6126480" y="545896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Rekomendasi 4 nomor"/>
          <p:cNvSpPr txBox="1"/>
          <p:nvPr/>
        </p:nvSpPr>
        <p:spPr>
          <a:xfrm>
            <a:off x="6126480" y="5458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Rekomendasi 4 teks"/>
          <p:cNvSpPr txBox="1"/>
          <p:nvPr/>
        </p:nvSpPr>
        <p:spPr>
          <a:xfrm>
            <a:off x="6858000" y="5239512"/>
            <a:ext cx="461772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Pantau kepuasan secara dini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Gunakan model prediktif dengan data baru untuk mendeteksi risiko pelanggan Unsatisfied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Kesimpulan &amp; Penutup</a:t>
            </a:r>
            <a:endParaRPr lang="en-US" sz="3400" dirty="0"/>
          </a:p>
        </p:txBody>
      </p:sp>
      <p:sp>
        <p:nvSpPr>
          <p:cNvPr id="3" name="Kesimpulan 1 card"/>
          <p:cNvSpPr/>
          <p:nvPr/>
        </p:nvSpPr>
        <p:spPr>
          <a:xfrm>
            <a:off x="548640" y="13716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Kesimpulan 1 judul"/>
          <p:cNvSpPr txBox="1"/>
          <p:nvPr/>
        </p:nvSpPr>
        <p:spPr>
          <a:xfrm>
            <a:off x="86868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 = nilai</a:t>
            </a:r>
            <a:endParaRPr lang="en-US" sz="2200" dirty="0"/>
          </a:p>
        </p:txBody>
      </p:sp>
      <p:sp>
        <p:nvSpPr>
          <p:cNvPr id="5" name="Kesimpulan 1 isi"/>
          <p:cNvSpPr txBox="1"/>
          <p:nvPr/>
        </p:nvSpPr>
        <p:spPr>
          <a:xfrm>
            <a:off x="868680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Gold membelanjakan ±2,8× Bronze dengan rating dan kepuasan tertinggi</a:t>
            </a:r>
            <a:endParaRPr lang="en-US" sz="1600" dirty="0"/>
          </a:p>
        </p:txBody>
      </p:sp>
      <p:sp>
        <p:nvSpPr>
          <p:cNvPr id="6" name="Kesimpulan 2 card"/>
          <p:cNvSpPr/>
          <p:nvPr/>
        </p:nvSpPr>
        <p:spPr>
          <a:xfrm>
            <a:off x="6217920" y="137160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Kesimpulan 2 judul"/>
          <p:cNvSpPr txBox="1"/>
          <p:nvPr/>
        </p:nvSpPr>
        <p:spPr>
          <a:xfrm>
            <a:off x="6537960" y="16459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Belanja &amp; item selaras</a:t>
            </a:r>
            <a:endParaRPr lang="en-US" sz="2200" dirty="0"/>
          </a:p>
        </p:txBody>
      </p:sp>
      <p:sp>
        <p:nvSpPr>
          <p:cNvPr id="8" name="Kesimpulan 2 isi"/>
          <p:cNvSpPr txBox="1"/>
          <p:nvPr/>
        </p:nvSpPr>
        <p:spPr>
          <a:xfrm>
            <a:off x="6537960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Spend, jumlah item, dan rating bergerak bersama (r &gt; 0,9)</a:t>
            </a:r>
            <a:endParaRPr lang="en-US" sz="1600" dirty="0"/>
          </a:p>
        </p:txBody>
      </p:sp>
      <p:sp>
        <p:nvSpPr>
          <p:cNvPr id="9" name="Kesimpulan 3 card"/>
          <p:cNvSpPr/>
          <p:nvPr/>
        </p:nvSpPr>
        <p:spPr>
          <a:xfrm>
            <a:off x="548640" y="361188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Kesimpulan 3 judul"/>
          <p:cNvSpPr txBox="1"/>
          <p:nvPr/>
        </p:nvSpPr>
        <p:spPr>
          <a:xfrm>
            <a:off x="86868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Keaktifan = kepuasan</a:t>
            </a:r>
            <a:endParaRPr lang="en-US" sz="2200" dirty="0"/>
          </a:p>
        </p:txBody>
      </p:sp>
      <p:sp>
        <p:nvSpPr>
          <p:cNvPr id="11" name="Kesimpulan 3 isi"/>
          <p:cNvSpPr txBox="1"/>
          <p:nvPr/>
        </p:nvSpPr>
        <p:spPr>
          <a:xfrm>
            <a:off x="868680" y="4526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Jeda pembelian terakhir menjadi pembeda utama pelanggan puas</a:t>
            </a:r>
            <a:endParaRPr lang="en-US" sz="1600" dirty="0"/>
          </a:p>
        </p:txBody>
      </p:sp>
      <p:sp>
        <p:nvSpPr>
          <p:cNvPr id="12" name="Kesimpulan 4 card"/>
          <p:cNvSpPr/>
          <p:nvPr/>
        </p:nvSpPr>
        <p:spPr>
          <a:xfrm>
            <a:off x="6217920" y="3611880"/>
            <a:ext cx="5394960" cy="1965960"/>
          </a:xfrm>
          <a:prstGeom prst="roundRect">
            <a:avLst>
              <a:gd name="adj" fmla="val 558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Kesimpulan 4 judul"/>
          <p:cNvSpPr txBox="1"/>
          <p:nvPr/>
        </p:nvSpPr>
        <p:spPr>
          <a:xfrm>
            <a:off x="6537960" y="3886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Aksi nyata</a:t>
            </a:r>
            <a:endParaRPr lang="en-US" sz="2200" dirty="0"/>
          </a:p>
        </p:txBody>
      </p:sp>
      <p:sp>
        <p:nvSpPr>
          <p:cNvPr id="14" name="Kesimpulan 4 isi"/>
          <p:cNvSpPr txBox="1"/>
          <p:nvPr/>
        </p:nvSpPr>
        <p:spPr>
          <a:xfrm>
            <a:off x="6537960" y="45262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Upgrade tier, reaktivasi pelanggan pasif, dan retensi Gold</a:t>
            </a:r>
            <a:endParaRPr lang="en-US" sz="1600" dirty="0"/>
          </a:p>
        </p:txBody>
      </p:sp>
      <p:sp>
        <p:nvSpPr>
          <p:cNvPr id="15" name="Penutup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</a:rPr>
              <a:t>Terima kasih. Silakan bertanya.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mmerce Analytics">
  <a:themeElements>
    <a:clrScheme name="Ecommerce Analytics">
      <a:dk1>
        <a:srgbClr val="1B2733"/>
      </a:dk1>
      <a:lt1>
        <a:srgbClr val="FFFFFF"/>
      </a:lt1>
      <a:dk2>
        <a:srgbClr val="12304A"/>
      </a:dk2>
      <a:lt2>
        <a:srgbClr val="F1F5F8"/>
      </a:lt2>
      <a:accent1>
        <a:srgbClr val="1B8A8F"/>
      </a:accent1>
      <a:accent2>
        <a:srgbClr val="F2A33A"/>
      </a:accent2>
      <a:accent3>
        <a:srgbClr val="C98B5B"/>
      </a:accent3>
      <a:accent4>
        <a:srgbClr val="9AA7B4"/>
      </a:accent4>
      <a:accent5>
        <a:srgbClr val="2E6F9E"/>
      </a:accent5>
      <a:accent6>
        <a:srgbClr val="6B7785"/>
      </a:accent6>
      <a:hlink>
        <a:srgbClr val="1B8A8F"/>
      </a:hlink>
      <a:folHlink>
        <a:srgbClr val="6B7785"/>
      </a:folHlink>
    </a:clrScheme>
    <a:fontScheme name="Ecommerce Analyt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 Perilaku Pelanggan E-Commerce</dc:title>
  <dc:subject>PptxGenJS Presentation</dc:subject>
  <dc:creator>Tugas Data Science</dc:creator>
  <cp:lastModifiedBy>Tugas Data Science</cp:lastModifiedBy>
  <cp:revision>1</cp:revision>
  <dcterms:created xsi:type="dcterms:W3CDTF">2026-10-15T02:16:18Z</dcterms:created>
  <dcterms:modified xsi:type="dcterms:W3CDTF">2026-10-15T02:16:18Z</dcterms:modified>
</cp:coreProperties>
</file>